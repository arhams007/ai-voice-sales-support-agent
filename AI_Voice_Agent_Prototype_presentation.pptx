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9793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412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Voice Sales &amp; Support Agent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storyboard tour of a live inbound call — from ring to confirmed booking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pPr indent="0" marL="0">
              <a:buNone/>
            </a:pPr>
            <a:r>
              <a:rPr lang="en-US" sz="130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Realtime API</a:t>
            </a:r>
            <a:pPr indent="0" marL="0">
              <a:buNone/>
            </a:pPr>
            <a:r>
              <a:rPr lang="en-US" sz="130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pPr indent="0" marL="0">
              <a:buNone/>
            </a:pPr>
            <a:r>
              <a:rPr lang="en-US" sz="130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pPr indent="0" marL="0">
              <a:buNone/>
            </a:pPr>
            <a:r>
              <a:rPr lang="en-US" sz="130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are still where service businesses lose the most leads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42032" cy="3291840"/>
          </a:xfrm>
          <a:prstGeom prst="roundRect">
            <a:avLst>
              <a:gd name="adj" fmla="val 431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9616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5328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33756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calls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3794760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unanswered ring is a booking that walks to a competitor.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56432" y="1965960"/>
            <a:ext cx="2542032" cy="3291840"/>
          </a:xfrm>
          <a:prstGeom prst="roundRect">
            <a:avLst>
              <a:gd name="adj" fmla="val 431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15968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5328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1024" y="333756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 staffing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57600" y="3794760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human receptionist coverage is expensive and hard to scale.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965960"/>
            <a:ext cx="2542032" cy="3291840"/>
          </a:xfrm>
          <a:prstGeom prst="roundRect">
            <a:avLst>
              <a:gd name="adj" fmla="val 431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0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253288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333756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intake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73952" y="3794760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note-taking misses details or logs them incorrectly.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89136" y="1965960"/>
            <a:ext cx="2542032" cy="3291840"/>
          </a:xfrm>
          <a:prstGeom prst="roundRect">
            <a:avLst>
              <a:gd name="adj" fmla="val 4317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48672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253288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53728" y="333756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≠ chat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90304" y="3794760"/>
            <a:ext cx="213969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don't help callers — most customers still pick up the phone.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Sales &amp; Support Agent — Prototype Walkthrough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Prototype, In One Sentence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60020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FastAPI backend bridges a live phone call to OpenAI's Realtime API for understanding and ElevenLabs for natural speech — capturing a full booking, hands-free, in one continuous conversation.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9933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71016" y="3474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1211" y="36649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3891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3977640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98064" y="3200400"/>
            <a:ext cx="19933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29000" y="3474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195" y="366491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89504" y="43891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3977640"/>
            <a:ext cx="164592" cy="16459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956048" y="3200400"/>
            <a:ext cx="19933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586984" y="3474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7179" y="3664915"/>
            <a:ext cx="351130" cy="3511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47488" y="43891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naturally</a:t>
            </a:r>
            <a:endParaRPr lang="en-US" sz="13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3977640"/>
            <a:ext cx="164592" cy="16459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114032" y="3200400"/>
            <a:ext cx="19933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7744968" y="3474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5163" y="3664915"/>
            <a:ext cx="351130" cy="35113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205472" y="43891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booking</a:t>
            </a:r>
            <a:endParaRPr lang="en-US" sz="13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5712" y="3977640"/>
            <a:ext cx="164592" cy="164592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272016" y="3200400"/>
            <a:ext cx="199339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16"/>
          <p:cNvSpPr/>
          <p:nvPr/>
        </p:nvSpPr>
        <p:spPr>
          <a:xfrm>
            <a:off x="9902952" y="34747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3147" y="3664915"/>
            <a:ext cx="351130" cy="35113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363456" y="438912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&amp; ends</a:t>
            </a:r>
            <a:endParaRPr lang="en-US" sz="1350" dirty="0"/>
          </a:p>
        </p:txBody>
      </p:sp>
      <p:sp>
        <p:nvSpPr>
          <p:cNvPr id="29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Sales &amp; Support Agent — Prototype Walkthrough</a:t>
            </a:r>
            <a:endParaRPr lang="en-US" sz="900" dirty="0"/>
          </a:p>
        </p:txBody>
      </p:sp>
      <p:sp>
        <p:nvSpPr>
          <p:cNvPr id="30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Wired Together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real-time connections meet inside one FastAPI backend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21284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181" y="237926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Media Stream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278892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990088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50" y="3204058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54880" y="42336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orchestration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823960" y="137160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92640" y="15727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061" y="173918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Realtime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91540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+ reasoning + tools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823960" y="402336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92640" y="422452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061" y="439094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15400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915400" y="5212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voice synthesis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416052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508760" y="436168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5181" y="4528109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5029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31520" y="5349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 (React)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017520" y="2788920"/>
            <a:ext cx="1645920" cy="594360"/>
          </a:xfrm>
          <a:prstGeom prst="line">
            <a:avLst/>
          </a:prstGeom>
          <a:noFill/>
          <a:ln w="25400">
            <a:solidFill>
              <a:srgbClr val="B7C7D4"/>
            </a:solidFill>
            <a:prstDash val="dash"/>
          </a:ln>
        </p:spPr>
      </p:sp>
      <p:sp>
        <p:nvSpPr>
          <p:cNvPr id="30" name="Shape 23"/>
          <p:cNvSpPr/>
          <p:nvPr/>
        </p:nvSpPr>
        <p:spPr>
          <a:xfrm>
            <a:off x="7040880" y="3246120"/>
            <a:ext cx="1783080" cy="-1051560"/>
          </a:xfrm>
          <a:prstGeom prst="line">
            <a:avLst/>
          </a:prstGeom>
          <a:noFill/>
          <a:ln w="25400">
            <a:solidFill>
              <a:srgbClr val="B7C7D4"/>
            </a:solidFill>
            <a:prstDash val="dash"/>
          </a:ln>
        </p:spPr>
      </p:sp>
      <p:sp>
        <p:nvSpPr>
          <p:cNvPr id="31" name="Shape 24"/>
          <p:cNvSpPr/>
          <p:nvPr/>
        </p:nvSpPr>
        <p:spPr>
          <a:xfrm>
            <a:off x="7040880" y="4160520"/>
            <a:ext cx="1783080" cy="411480"/>
          </a:xfrm>
          <a:prstGeom prst="line">
            <a:avLst/>
          </a:prstGeom>
          <a:noFill/>
          <a:ln w="25400">
            <a:solidFill>
              <a:srgbClr val="B7C7D4"/>
            </a:solidFill>
            <a:prstDash val="dash"/>
          </a:ln>
        </p:spPr>
      </p:sp>
      <p:sp>
        <p:nvSpPr>
          <p:cNvPr id="32" name="Shape 25"/>
          <p:cNvSpPr/>
          <p:nvPr/>
        </p:nvSpPr>
        <p:spPr>
          <a:xfrm>
            <a:off x="3017520" y="4572000"/>
            <a:ext cx="1645920" cy="-548640"/>
          </a:xfrm>
          <a:prstGeom prst="line">
            <a:avLst/>
          </a:prstGeom>
          <a:noFill/>
          <a:ln w="25400">
            <a:solidFill>
              <a:srgbClr val="B7C7D4"/>
            </a:solidFill>
            <a:prstDash val="dash"/>
          </a:ln>
        </p:spPr>
      </p:sp>
      <p:sp>
        <p:nvSpPr>
          <p:cNvPr id="33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Sales &amp; Support Agent — Prototype Walkthrough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A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Call Connects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5237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290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answers the inbound call and opens a real-time Media Stream straight to the FastAPI backend.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5897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5897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→ FASTAPI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0" y="822960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4528" y="1234440"/>
            <a:ext cx="3438144" cy="4389120"/>
          </a:xfrm>
          <a:prstGeom prst="roundRect">
            <a:avLst>
              <a:gd name="adj" fmla="val 2128"/>
            </a:avLst>
          </a:prstGeom>
          <a:solidFill>
            <a:srgbClr val="0E1B33"/>
          </a:solidFill>
          <a:ln/>
        </p:spPr>
      </p:sp>
      <p:sp>
        <p:nvSpPr>
          <p:cNvPr id="12" name="Text 9"/>
          <p:cNvSpPr/>
          <p:nvPr/>
        </p:nvSpPr>
        <p:spPr>
          <a:xfrm>
            <a:off x="425196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HBAG Home Services — Live Call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43400" y="1417320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Incoming call from caller...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43400" y="2039112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0" y="20391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Thank you for calling HBAG Home Services. How can I help you today?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0" y="822960"/>
            <a:ext cx="3291840" cy="521208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45820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 UNDER THE HOOD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458200" y="164592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0" name="Text 17"/>
          <p:cNvSpPr/>
          <p:nvPr/>
        </p:nvSpPr>
        <p:spPr>
          <a:xfrm>
            <a:off x="8732520" y="1600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/incoming-call registers the call and assigns a call_id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458200" y="251460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2" name="Text 19"/>
          <p:cNvSpPr/>
          <p:nvPr/>
        </p:nvSpPr>
        <p:spPr>
          <a:xfrm>
            <a:off x="8732520" y="24688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TwiML response opens a WebSocket Media Stream to /media-stream/{call_id}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458200" y="338328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4" name="Text 21"/>
          <p:cNvSpPr/>
          <p:nvPr/>
        </p:nvSpPr>
        <p:spPr>
          <a:xfrm>
            <a:off x="873252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opens a parallel session to OpenAI Realtime and sends the greeting trigger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Sales &amp; Support Agent — Prototype Walkthrough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A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Need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5237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290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asks one clear question at a time — no multi-part questions that are easy to mishear over the phone.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5897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5897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ACTIVITY DETECTION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0" y="822960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4528" y="1234440"/>
            <a:ext cx="3438144" cy="4389120"/>
          </a:xfrm>
          <a:prstGeom prst="roundRect">
            <a:avLst>
              <a:gd name="adj" fmla="val 2128"/>
            </a:avLst>
          </a:prstGeom>
          <a:solidFill>
            <a:srgbClr val="0E1B33"/>
          </a:solidFill>
          <a:ln/>
        </p:spPr>
      </p:sp>
      <p:sp>
        <p:nvSpPr>
          <p:cNvPr id="12" name="Text 9"/>
          <p:cNvSpPr/>
          <p:nvPr/>
        </p:nvSpPr>
        <p:spPr>
          <a:xfrm>
            <a:off x="425196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HBAG Home Services — Live Call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43400" y="1417320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Thank you for calling HBAG Home Services. How can I help you today?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43400" y="2039112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21C7A8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0" y="20391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my AC stopped cooling.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2660904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480560" y="26609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it — you need AC service. Let me get a few more details.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0" y="822960"/>
            <a:ext cx="3291840" cy="521208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45820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 UNDER THE HOOD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458200" y="164592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2" name="Text 19"/>
          <p:cNvSpPr/>
          <p:nvPr/>
        </p:nvSpPr>
        <p:spPr>
          <a:xfrm>
            <a:off x="8732520" y="1600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VAD detects the caller's turn and transcribes speech live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458200" y="251460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4" name="Text 21"/>
          <p:cNvSpPr/>
          <p:nvPr/>
        </p:nvSpPr>
        <p:spPr>
          <a:xfrm>
            <a:off x="8732520" y="24688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reasons over the answer and calls store_customer_data("service_type", ...)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458200" y="338328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6" name="Text 23"/>
          <p:cNvSpPr/>
          <p:nvPr/>
        </p:nvSpPr>
        <p:spPr>
          <a:xfrm>
            <a:off x="873252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confirmed back to the caller before moving to the next question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Sales &amp; Support Agent — Prototype Walkthrough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A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Natural-Sounding Reply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5237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290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robotic built-in audio, the agent's reply is streamed through ElevenLabs for lifelike speech — with near-zero added delay.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5897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5897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AUDIO PIPELINE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0" y="822960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4528" y="1234440"/>
            <a:ext cx="3438144" cy="4389120"/>
          </a:xfrm>
          <a:prstGeom prst="roundRect">
            <a:avLst>
              <a:gd name="adj" fmla="val 2128"/>
            </a:avLst>
          </a:prstGeom>
          <a:solidFill>
            <a:srgbClr val="0E1B33"/>
          </a:solidFill>
          <a:ln/>
        </p:spPr>
      </p:sp>
      <p:sp>
        <p:nvSpPr>
          <p:cNvPr id="12" name="Text 9"/>
          <p:cNvSpPr/>
          <p:nvPr/>
        </p:nvSpPr>
        <p:spPr>
          <a:xfrm>
            <a:off x="425196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HBAG Home Services — Live Call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43400" y="1417320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briefly describe the problem?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43400" y="2039112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21C7A8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0" y="20391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blowing warm air, not cold.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2660904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480560" y="26609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streaming natural voice reply...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0" y="822960"/>
            <a:ext cx="3291840" cy="521208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45820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 UNDER THE HOOD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458200" y="164592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2" name="Text 19"/>
          <p:cNvSpPr/>
          <p:nvPr/>
        </p:nvSpPr>
        <p:spPr>
          <a:xfrm>
            <a:off x="8732520" y="1600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streams from OpenAI sentence-by-sentence into ElevenLabs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458200" y="251460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4" name="Text 21"/>
          <p:cNvSpPr/>
          <p:nvPr/>
        </p:nvSpPr>
        <p:spPr>
          <a:xfrm>
            <a:off x="8732520" y="24688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is pre-warmed the instant the caller starts speaking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458200" y="338328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6" name="Text 23"/>
          <p:cNvSpPr/>
          <p:nvPr/>
        </p:nvSpPr>
        <p:spPr>
          <a:xfrm>
            <a:off x="873252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is streamed back to the caller in chunks, not after a long pause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Sales &amp; Support Agent — Prototype Walkthrough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A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Interruptions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914400" cy="91440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5237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290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caller starts talking while the agent is still speaking, the agent stops immediately and listens — just like a real conversation.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5897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5897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BARGE-IN SUPPORT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0" y="822960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4528" y="1234440"/>
            <a:ext cx="3438144" cy="4389120"/>
          </a:xfrm>
          <a:prstGeom prst="roundRect">
            <a:avLst>
              <a:gd name="adj" fmla="val 2128"/>
            </a:avLst>
          </a:prstGeom>
          <a:solidFill>
            <a:srgbClr val="0E1B33"/>
          </a:solidFill>
          <a:ln/>
        </p:spPr>
      </p:sp>
      <p:sp>
        <p:nvSpPr>
          <p:cNvPr id="12" name="Text 9"/>
          <p:cNvSpPr/>
          <p:nvPr/>
        </p:nvSpPr>
        <p:spPr>
          <a:xfrm>
            <a:off x="425196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HBAG Home Services — Live Call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43400" y="1417320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 have your nam—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43400" y="2039112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21C7A8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0" y="20391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John, John Carter.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2660904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480560" y="26609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John.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0" y="822960"/>
            <a:ext cx="3291840" cy="521208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45820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 UNDER THE HOOD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458200" y="164592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2" name="Text 19"/>
          <p:cNvSpPr/>
          <p:nvPr/>
        </p:nvSpPr>
        <p:spPr>
          <a:xfrm>
            <a:off x="8732520" y="1600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speech_started event clears any buffered agent audio instantly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458200" y="251460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4" name="Text 21"/>
          <p:cNvSpPr/>
          <p:nvPr/>
        </p:nvSpPr>
        <p:spPr>
          <a:xfrm>
            <a:off x="8732520" y="24688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ElevenLabs stream is stopped and a fresh connection pre-warms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458200" y="338328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6" name="Text 23"/>
          <p:cNvSpPr/>
          <p:nvPr/>
        </p:nvSpPr>
        <p:spPr>
          <a:xfrm>
            <a:off x="873252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conversation feeling responsive, not scripted or laggy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Sales &amp; Support Agent — Prototype Walkthrough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A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Capturing the Booking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5237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290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confirmed detail is stored through a function call — name, date, and address — building a clean, structured record.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5897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5897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0" y="822960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4528" y="1234440"/>
            <a:ext cx="3438144" cy="4389120"/>
          </a:xfrm>
          <a:prstGeom prst="roundRect">
            <a:avLst>
              <a:gd name="adj" fmla="val 2128"/>
            </a:avLst>
          </a:prstGeom>
          <a:solidFill>
            <a:srgbClr val="0E1B33"/>
          </a:solidFill>
          <a:ln/>
        </p:spPr>
      </p:sp>
      <p:sp>
        <p:nvSpPr>
          <p:cNvPr id="12" name="Text 9"/>
          <p:cNvSpPr/>
          <p:nvPr/>
        </p:nvSpPr>
        <p:spPr>
          <a:xfrm>
            <a:off x="425196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HBAG Home Services — Live Call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43400" y="1417320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like the service?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43400" y="2039112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21C7A8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0" y="20391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afternoon, if possible.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2660904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480560" y="26609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Noted — tomorrow afternoon. What's the address?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0" y="822960"/>
            <a:ext cx="3291840" cy="521208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45820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 UNDER THE HOOD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458200" y="164592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2" name="Text 19"/>
          <p:cNvSpPr/>
          <p:nvPr/>
        </p:nvSpPr>
        <p:spPr>
          <a:xfrm>
            <a:off x="8732520" y="1600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invokes store_customer_data for each confirmed field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458200" y="251460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4" name="Text 21"/>
          <p:cNvSpPr/>
          <p:nvPr/>
        </p:nvSpPr>
        <p:spPr>
          <a:xfrm>
            <a:off x="8732520" y="24688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held against the unique call_id for this conversation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458200" y="338328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6" name="Text 23"/>
          <p:cNvSpPr/>
          <p:nvPr/>
        </p:nvSpPr>
        <p:spPr>
          <a:xfrm>
            <a:off x="873252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fields collected: service, issue, name, date, address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Sales &amp; Support Agent — Prototype Walkthrough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A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Watching It Live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5237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290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dashboard mirrors the call in real time — every line of the transcript appears the moment it's spoken, from either side.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5897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5897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WEBSOCKET BROADCAST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14800" y="822960"/>
            <a:ext cx="7406640" cy="5212080"/>
          </a:xfrm>
          <a:prstGeom prst="roundRect">
            <a:avLst>
              <a:gd name="adj" fmla="val 210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3484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HBAG Home Services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3484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Agent — Live Test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784080" y="114300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9784080" y="114300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Call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1228832" y="1051560"/>
            <a:ext cx="109728" cy="109728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16" name="Text 13"/>
          <p:cNvSpPr/>
          <p:nvPr/>
        </p:nvSpPr>
        <p:spPr>
          <a:xfrm>
            <a:off x="10607040" y="9875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434840" y="196596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9432" y="1965960"/>
            <a:ext cx="3877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Thank you for calling HBAG Home Services.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95160" y="274320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7159752" y="2743200"/>
            <a:ext cx="3877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my AC stopped cooling.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434840" y="352044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99432" y="3520440"/>
            <a:ext cx="3877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it — you need AC service. Let me get a few more details.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95160" y="429768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24" name="Text 21"/>
          <p:cNvSpPr/>
          <p:nvPr/>
        </p:nvSpPr>
        <p:spPr>
          <a:xfrm>
            <a:off x="7159752" y="4297680"/>
            <a:ext cx="3877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John Carter, available tomorrow afternoon.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434840" y="507492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99432" y="5074920"/>
            <a:ext cx="3877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to confirm — AC repair, tomorrow afternoon, for John Carter. Correct?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Sales &amp; Support Agent — Prototype Walkthrough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A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&amp; Wrap 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914400" cy="91440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5237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290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back a complete summary, gets a final yes, and ends the call cleanly — no human ever had to pick up.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5897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5897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end_call() INVOKED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0" y="822960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4528" y="1234440"/>
            <a:ext cx="3438144" cy="4389120"/>
          </a:xfrm>
          <a:prstGeom prst="roundRect">
            <a:avLst>
              <a:gd name="adj" fmla="val 2128"/>
            </a:avLst>
          </a:prstGeom>
          <a:solidFill>
            <a:srgbClr val="0E1B33"/>
          </a:solidFill>
          <a:ln/>
        </p:spPr>
      </p:sp>
      <p:sp>
        <p:nvSpPr>
          <p:cNvPr id="12" name="Text 9"/>
          <p:cNvSpPr/>
          <p:nvPr/>
        </p:nvSpPr>
        <p:spPr>
          <a:xfrm>
            <a:off x="425196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HBAG Home Services — Live Call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43400" y="1417320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to confirm — AC repair, tomorrow afternoon, at 12 Maple St. Correct?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43400" y="2039112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21C7A8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0" y="20391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that's right.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2660904"/>
            <a:ext cx="32004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480560" y="26609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Wonderful! Your booking has been noted. Goodbye!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0" y="822960"/>
            <a:ext cx="3291840" cy="521208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45820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 UNDER THE HOOD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458200" y="164592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2" name="Text 19"/>
          <p:cNvSpPr/>
          <p:nvPr/>
        </p:nvSpPr>
        <p:spPr>
          <a:xfrm>
            <a:off x="8732520" y="1600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 end_call(call_id) once confirmation is received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458200" y="251460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4" name="Text 21"/>
          <p:cNvSpPr/>
          <p:nvPr/>
        </p:nvSpPr>
        <p:spPr>
          <a:xfrm>
            <a:off x="8732520" y="24688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"ended" is broadcast to the dashboard instantly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458200" y="3383280"/>
            <a:ext cx="146304" cy="146304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6" name="Text 23"/>
          <p:cNvSpPr/>
          <p:nvPr/>
        </p:nvSpPr>
        <p:spPr>
          <a:xfrm>
            <a:off x="873252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waits for final audio to finish, then closes the stream cleanly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Sales &amp; Support Agent — Prototype Walkthrough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286000"/>
            <a:ext cx="6400800" cy="6400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Prototype Proves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phone call can be fully automated end-to-end — no IVR menu, no hold music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engineering (pre-warming, sentence streaming, barge-in) makes it feel conversational, not scripted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is captured as clean, structured data automatically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46304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0E2E47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TO PRODUCTION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29400" y="214884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call data &amp; transcripts (MongoDB hook already in config)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 CORS and add dashboard authentication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booking script configurable per business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call analytics: duration, completion rate, drop-off points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Sales &amp; Support Agent — Prototype Walkthrough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Voice Agent — Prototype Walkthrough</dc:title>
  <dc:subject>PptxGenJS Presentation</dc:subject>
  <dc:creator>AI Voice Sales &amp; Support Agent</dc:creator>
  <cp:lastModifiedBy>AI Voice Sales &amp; Support Agent</cp:lastModifiedBy>
  <cp:revision>1</cp:revision>
  <dcterms:created xsi:type="dcterms:W3CDTF">2026-06-30T07:32:02Z</dcterms:created>
  <dcterms:modified xsi:type="dcterms:W3CDTF">2026-06-30T07:32:02Z</dcterms:modified>
</cp:coreProperties>
</file>